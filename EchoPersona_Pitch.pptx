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6C3CE1">
              <a:alpha val="18000"/>
            </a:srgbClr>
          </a:solidFill>
          <a:ln w="12700">
            <a:solidFill>
              <a:srgbClr val="6C3CE1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9B5FFF">
              <a:alpha val="12000"/>
            </a:srgbClr>
          </a:solidFill>
          <a:ln w="12700">
            <a:solidFill>
              <a:srgbClr val="9B5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6C3CE1">
              <a:alpha val="40000"/>
            </a:srgbClr>
          </a:solidFill>
          <a:ln w="12700">
            <a:solidFill>
              <a:srgbClr val="9B5FFF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4A8FF"/>
                </a:solidFill>
              </a:rPr>
              <a:t>HACKATHON 2025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EchoPersona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C4A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flight simulator for hard conversations.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2286000" cy="36576"/>
          </a:xfrm>
          <a:prstGeom prst="rect">
            <a:avLst/>
          </a:prstGeom>
          <a:solidFill>
            <a:srgbClr val="6C3CE1"/>
          </a:solidFill>
          <a:ln w="12700">
            <a:solidFill>
              <a:srgbClr val="6C3C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461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B8FBB"/>
                </a:solidFill>
              </a:rPr>
              <a:t>Rehearse salary negotiations, breakups, confrontations &amp; more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B8FBB"/>
                </a:solidFill>
              </a:rPr>
              <a:t>with an AI that becomes the other person.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8FBB"/>
                </a:solidFill>
              </a:rPr>
              <a:t>Round 1 Idea Submission  ·  AI / ML  ·  Web  ·  Mobile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896112"/>
            <a:ext cx="8229600" cy="27432"/>
          </a:xfrm>
          <a:prstGeom prst="rect">
            <a:avLst/>
          </a:prstGeom>
          <a:solidFill>
            <a:srgbClr val="6C3CE1">
              <a:alpha val="50000"/>
            </a:srgbClr>
          </a:solidFill>
          <a:ln w="12700">
            <a:solidFill>
              <a:srgbClr val="6C3CE1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97280"/>
            <a:ext cx="3749040" cy="3474720"/>
          </a:xfrm>
          <a:prstGeom prst="roundRect">
            <a:avLst>
              <a:gd name="adj" fmla="val 3947"/>
            </a:avLst>
          </a:prstGeom>
          <a:solidFill>
            <a:srgbClr val="16152B"/>
          </a:solidFill>
          <a:ln w="12700">
            <a:solidFill>
              <a:srgbClr val="9B5F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258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9B5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4F0FF"/>
                </a:solidFill>
              </a:rPr>
              <a:t>of people avoid difficult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4F0FF"/>
                </a:solidFill>
              </a:rPr>
              <a:t>conversations entirely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154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B8FBB"/>
                </a:solidFill>
              </a:rPr>
              <a:t>— Harvard Business Review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5204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8FBB"/>
                </a:solidFill>
              </a:rPr>
              <a:t>The cost? Missed raises, broken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B8FBB"/>
                </a:solidFill>
              </a:rPr>
              <a:t>relationships, unresolved conflict.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206240" cy="1051560"/>
          </a:xfrm>
          <a:prstGeom prst="roundRect">
            <a:avLst>
              <a:gd name="adj" fmla="val 10435"/>
            </a:avLst>
          </a:prstGeom>
          <a:solidFill>
            <a:srgbClr val="1E1B38"/>
          </a:solidFill>
          <a:ln w="12700">
            <a:solidFill>
              <a:srgbClr val="6C3CE1">
                <a:alpha val="3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 safe space to practice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0600" y="149961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8FBB"/>
                </a:solidFill>
              </a:rPr>
              <a:t>You can't rehearse a real conversation with a real person — the stakes are always live.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286000"/>
            <a:ext cx="4206240" cy="1051560"/>
          </a:xfrm>
          <a:prstGeom prst="roundRect">
            <a:avLst>
              <a:gd name="adj" fmla="val 10435"/>
            </a:avLst>
          </a:prstGeom>
          <a:solidFill>
            <a:srgbClr val="1E1B38"/>
          </a:solidFill>
          <a:ln w="12700">
            <a:solidFill>
              <a:srgbClr val="6C3CE1">
                <a:alpha val="3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2377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Generic advice doesn't help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00600" y="268833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8FBB"/>
                </a:solidFill>
              </a:rPr>
              <a:t>"Be confident" and "stay calm" are useless when you're shaking in the moment.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3474720"/>
            <a:ext cx="4206240" cy="1051560"/>
          </a:xfrm>
          <a:prstGeom prst="roundRect">
            <a:avLst>
              <a:gd name="adj" fmla="val 10435"/>
            </a:avLst>
          </a:prstGeom>
          <a:solidFill>
            <a:srgbClr val="1E1B38"/>
          </a:solidFill>
          <a:ln w="12700">
            <a:solidFill>
              <a:srgbClr val="6C3CE1">
                <a:alpha val="3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3566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Existing tools don't simulate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00600" y="387705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8FBB"/>
                </a:solidFill>
              </a:rPr>
              <a:t>ChatGPT can roleplay but gives no feedback, no progression, no emotional safety design.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896112"/>
            <a:ext cx="8229600" cy="27432"/>
          </a:xfrm>
          <a:prstGeom prst="rect">
            <a:avLst/>
          </a:prstGeom>
          <a:solidFill>
            <a:srgbClr val="6C3CE1">
              <a:alpha val="50000"/>
            </a:srgbClr>
          </a:solidFill>
          <a:ln w="12700">
            <a:solidFill>
              <a:srgbClr val="6C3CE1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51560"/>
            <a:ext cx="8046720" cy="960120"/>
          </a:xfrm>
          <a:prstGeom prst="roundRect">
            <a:avLst>
              <a:gd name="adj" fmla="val 14286"/>
            </a:avLst>
          </a:prstGeom>
          <a:solidFill>
            <a:srgbClr val="16152B"/>
          </a:solidFill>
          <a:ln w="12700">
            <a:solidFill>
              <a:srgbClr val="6C3CE1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1430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8FBB"/>
                </a:solidFill>
              </a:rPr>
              <a:t>EchoPersona lets you describe someone — their personality, defensiveness, communication style — and the AI 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481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5FFF"/>
                </a:solidFill>
              </a:rPr>
              <a:t>becomes them.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1481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8FBB"/>
                </a:solidFill>
              </a:rPr>
              <a:t>You practice until you're ready. Then you go have the real conversation.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3931920" cy="1234440"/>
          </a:xfrm>
          <a:prstGeom prst="roundRect">
            <a:avLst>
              <a:gd name="adj" fmla="val 8889"/>
            </a:avLst>
          </a:prstGeom>
          <a:solidFill>
            <a:srgbClr val="1E1B38"/>
          </a:solidFill>
          <a:ln w="12700">
            <a:solidFill>
              <a:srgbClr val="9B5FFF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423160"/>
            <a:ext cx="320040" cy="320040"/>
          </a:xfrm>
          <a:prstGeom prst="ellipse">
            <a:avLst/>
          </a:prstGeom>
          <a:solidFill>
            <a:srgbClr val="6C3CE1"/>
          </a:solidFill>
          <a:ln w="12700">
            <a:solidFill>
              <a:srgbClr val="6C3C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24048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Persona Engine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78892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8FBB"/>
                </a:solidFill>
              </a:rPr>
              <a:t>Describe anyone. The AI adopts their tone, defensiveness, and speaking style with uncanny accuracy.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2240280"/>
            <a:ext cx="3931920" cy="1234440"/>
          </a:xfrm>
          <a:prstGeom prst="roundRect">
            <a:avLst>
              <a:gd name="adj" fmla="val 8889"/>
            </a:avLst>
          </a:prstGeom>
          <a:solidFill>
            <a:srgbClr val="1E1B38"/>
          </a:solidFill>
          <a:ln w="12700">
            <a:solidFill>
              <a:srgbClr val="9B5FFF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92040" y="2423160"/>
            <a:ext cx="320040" cy="320040"/>
          </a:xfrm>
          <a:prstGeom prst="ellipse">
            <a:avLst/>
          </a:prstGeom>
          <a:solidFill>
            <a:srgbClr val="6C3CE1"/>
          </a:solidFill>
          <a:ln w="12700">
            <a:solidFill>
              <a:srgbClr val="6C3C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0" y="24048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Live Coaching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278892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8FBB"/>
                </a:solidFill>
              </a:rPr>
              <a:t>After each exchange, EchoPersona steps out of character and tells you exactly what worked and what didn't.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611880"/>
            <a:ext cx="3931920" cy="1234440"/>
          </a:xfrm>
          <a:prstGeom prst="roundRect">
            <a:avLst>
              <a:gd name="adj" fmla="val 8889"/>
            </a:avLst>
          </a:prstGeom>
          <a:solidFill>
            <a:srgbClr val="1E1B38"/>
          </a:solidFill>
          <a:ln w="12700">
            <a:solidFill>
              <a:srgbClr val="9B5FFF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794760"/>
            <a:ext cx="320040" cy="320040"/>
          </a:xfrm>
          <a:prstGeom prst="ellipse">
            <a:avLst/>
          </a:prstGeom>
          <a:solidFill>
            <a:srgbClr val="6C3CE1"/>
          </a:solidFill>
          <a:ln w="12700">
            <a:solidFill>
              <a:srgbClr val="6C3C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794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37764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Persona Library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416052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8FBB"/>
                </a:solidFill>
              </a:rPr>
              <a:t>1000+ pre-built archetypes — the guilt-tripper, the dismissive boss, the VC who only cares about revenue.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3611880"/>
            <a:ext cx="3931920" cy="1234440"/>
          </a:xfrm>
          <a:prstGeom prst="roundRect">
            <a:avLst>
              <a:gd name="adj" fmla="val 8889"/>
            </a:avLst>
          </a:prstGeom>
          <a:solidFill>
            <a:srgbClr val="1E1B38"/>
          </a:solidFill>
          <a:ln w="12700">
            <a:solidFill>
              <a:srgbClr val="9B5FFF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92040" y="3794760"/>
            <a:ext cx="320040" cy="320040"/>
          </a:xfrm>
          <a:prstGeom prst="ellipse">
            <a:avLst/>
          </a:prstGeom>
          <a:solidFill>
            <a:srgbClr val="6C3CE1"/>
          </a:solidFill>
          <a:ln w="12700">
            <a:solidFill>
              <a:srgbClr val="6C3C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794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03520" y="37764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Difficulty Curve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92040" y="416052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8FBB"/>
                </a:solidFill>
              </a:rPr>
              <a:t>Start easy, ramp up pressure. Track how your performance improves across 5 sessions.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896112"/>
            <a:ext cx="8229600" cy="27432"/>
          </a:xfrm>
          <a:prstGeom prst="rect">
            <a:avLst/>
          </a:prstGeom>
          <a:solidFill>
            <a:srgbClr val="6C3CE1">
              <a:alpha val="50000"/>
            </a:srgbClr>
          </a:solidFill>
          <a:ln w="12700">
            <a:solidFill>
              <a:srgbClr val="6C3CE1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" y="1627632"/>
            <a:ext cx="27432" cy="256032"/>
          </a:xfrm>
          <a:prstGeom prst="rect">
            <a:avLst/>
          </a:prstGeom>
          <a:solidFill>
            <a:srgbClr val="6C3CE1">
              <a:alpha val="50000"/>
            </a:srgbClr>
          </a:solidFill>
          <a:ln w="12700">
            <a:solidFill>
              <a:srgbClr val="6C3CE1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97280"/>
            <a:ext cx="438912" cy="438912"/>
          </a:xfrm>
          <a:prstGeom prst="ellipse">
            <a:avLst/>
          </a:prstGeom>
          <a:solidFill>
            <a:srgbClr val="6C3CE1"/>
          </a:solidFill>
          <a:ln w="12700">
            <a:solidFill>
              <a:srgbClr val="6C3C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11155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Describe the person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8FBB"/>
                </a:solidFill>
              </a:rPr>
              <a:t>Name their personality type, relationship to you, and what makes them difficult — the AI builds a living model of them.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23544" y="2395728"/>
            <a:ext cx="27432" cy="256032"/>
          </a:xfrm>
          <a:prstGeom prst="rect">
            <a:avLst/>
          </a:prstGeom>
          <a:solidFill>
            <a:srgbClr val="6C3CE1">
              <a:alpha val="50000"/>
            </a:srgbClr>
          </a:solidFill>
          <a:ln w="12700">
            <a:solidFill>
              <a:srgbClr val="6C3CE1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865376"/>
            <a:ext cx="438912" cy="438912"/>
          </a:xfrm>
          <a:prstGeom prst="ellipse">
            <a:avLst/>
          </a:prstGeom>
          <a:solidFill>
            <a:srgbClr val="6C3CE1"/>
          </a:solidFill>
          <a:ln w="12700">
            <a:solidFill>
              <a:srgbClr val="6C3C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65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8836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Pick your scenario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13969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8FBB"/>
                </a:solidFill>
              </a:rPr>
              <a:t>Choose from: salary negotiation, breakup, confrontation, apology, cold pitch, or set a custom situation.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23544" y="3163824"/>
            <a:ext cx="27432" cy="256032"/>
          </a:xfrm>
          <a:prstGeom prst="rect">
            <a:avLst/>
          </a:prstGeom>
          <a:solidFill>
            <a:srgbClr val="6C3CE1">
              <a:alpha val="50000"/>
            </a:srgbClr>
          </a:solidFill>
          <a:ln w="12700">
            <a:solidFill>
              <a:srgbClr val="6C3CE1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633472"/>
            <a:ext cx="438912" cy="438912"/>
          </a:xfrm>
          <a:prstGeom prst="ellipse">
            <a:avLst/>
          </a:prstGeom>
          <a:solidFill>
            <a:srgbClr val="6C3CE1"/>
          </a:solidFill>
          <a:ln w="12700">
            <a:solidFill>
              <a:srgbClr val="6C3C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6334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Rehearse in real-time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29077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8FBB"/>
                </a:solidFill>
              </a:rPr>
              <a:t>Text or voice. The AI pushes back, deflects, gets defensive — exactly like the real person would.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23544" y="3931920"/>
            <a:ext cx="27432" cy="256032"/>
          </a:xfrm>
          <a:prstGeom prst="rect">
            <a:avLst/>
          </a:prstGeom>
          <a:solidFill>
            <a:srgbClr val="6C3CE1">
              <a:alpha val="50000"/>
            </a:srgbClr>
          </a:solidFill>
          <a:ln w="12700">
            <a:solidFill>
              <a:srgbClr val="6C3CE1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401568"/>
            <a:ext cx="438912" cy="438912"/>
          </a:xfrm>
          <a:prstGeom prst="ellipse">
            <a:avLst/>
          </a:prstGeom>
          <a:solidFill>
            <a:srgbClr val="6C3CE1"/>
          </a:solidFill>
          <a:ln w="12700">
            <a:solidFill>
              <a:srgbClr val="6C3C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4015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34198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Get coached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36758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8FBB"/>
                </a:solidFill>
              </a:rPr>
              <a:t>After each round, EchoPersona breaks character and scores your approach: empathy, clarity, assertiveness.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169664"/>
            <a:ext cx="438912" cy="438912"/>
          </a:xfrm>
          <a:prstGeom prst="ellipse">
            <a:avLst/>
          </a:prstGeom>
          <a:solidFill>
            <a:srgbClr val="6C3CE1"/>
          </a:solidFill>
          <a:ln w="12700">
            <a:solidFill>
              <a:srgbClr val="6C3C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1696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43000" y="4187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Track your growth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43000" y="44439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8FBB"/>
                </a:solidFill>
              </a:rPr>
              <a:t>A personal dashboard shows how your confidence score improves conversation by conversation.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896112"/>
            <a:ext cx="8229600" cy="27432"/>
          </a:xfrm>
          <a:prstGeom prst="rect">
            <a:avLst/>
          </a:prstGeom>
          <a:solidFill>
            <a:srgbClr val="6C3CE1">
              <a:alpha val="50000"/>
            </a:srgbClr>
          </a:solidFill>
          <a:ln w="12700">
            <a:solidFill>
              <a:srgbClr val="6C3CE1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51560"/>
            <a:ext cx="3931920" cy="1737360"/>
          </a:xfrm>
          <a:prstGeom prst="roundRect">
            <a:avLst>
              <a:gd name="adj" fmla="val 7895"/>
            </a:avLst>
          </a:prstGeom>
          <a:solidFill>
            <a:srgbClr val="16152B"/>
          </a:solidFill>
          <a:ln w="12700">
            <a:solidFill>
              <a:srgbClr val="6C3CE1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79576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6C3CE1"/>
          </a:solidFill>
          <a:ln w="12700">
            <a:solidFill>
              <a:srgbClr val="6C3C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795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Frontend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5819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0FF"/>
                </a:solidFill>
              </a:rPr>
              <a:t>→  Next.js 14 + TypeScript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8562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8FBB"/>
                </a:solidFill>
              </a:rPr>
              <a:t>→  React Native (mobile)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1305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8FBB"/>
                </a:solidFill>
              </a:rPr>
              <a:t>→  Tailwind CSS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4048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8FBB"/>
                </a:solidFill>
              </a:rPr>
              <a:t>→  WebRTC (voice mode)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1051560"/>
            <a:ext cx="3931920" cy="1737360"/>
          </a:xfrm>
          <a:prstGeom prst="roundRect">
            <a:avLst>
              <a:gd name="adj" fmla="val 7895"/>
            </a:avLst>
          </a:prstGeom>
          <a:solidFill>
            <a:srgbClr val="16152B"/>
          </a:solidFill>
          <a:ln w="12700">
            <a:solidFill>
              <a:srgbClr val="6C3CE1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1179576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6C3CE1"/>
          </a:solidFill>
          <a:ln w="12700">
            <a:solidFill>
              <a:srgbClr val="6C3C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1795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Core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83480" y="15819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0FF"/>
                </a:solidFill>
              </a:rPr>
              <a:t>→  Claude API (persona simulation)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83480" y="18562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8FBB"/>
                </a:solidFill>
              </a:rPr>
              <a:t>→  Whisper (speech-to-text)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83480" y="21305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8FBB"/>
                </a:solidFill>
              </a:rPr>
              <a:t>→  GPT-4 fallback layer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24048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8FBB"/>
                </a:solidFill>
              </a:rPr>
              <a:t>→  Custom prompt engineering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971800"/>
            <a:ext cx="3931920" cy="1737360"/>
          </a:xfrm>
          <a:prstGeom prst="roundRect">
            <a:avLst>
              <a:gd name="adj" fmla="val 7895"/>
            </a:avLst>
          </a:prstGeom>
          <a:solidFill>
            <a:srgbClr val="16152B"/>
          </a:solidFill>
          <a:ln w="12700">
            <a:solidFill>
              <a:srgbClr val="6C3CE1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099816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6C3CE1"/>
          </a:solidFill>
          <a:ln w="12700">
            <a:solidFill>
              <a:srgbClr val="6C3C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0998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Backend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502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0FF"/>
                </a:solidFill>
              </a:rPr>
              <a:t>→  Node.js + Express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37764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8FBB"/>
                </a:solidFill>
              </a:rPr>
              <a:t>→  PostgreSQL + Redis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40507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8FBB"/>
                </a:solidFill>
              </a:rPr>
              <a:t>→  Pinecone (vector DB)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4325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8FBB"/>
                </a:solidFill>
              </a:rPr>
              <a:t>→  Socket.IO (real-time)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00600" y="2971800"/>
            <a:ext cx="3931920" cy="1737360"/>
          </a:xfrm>
          <a:prstGeom prst="roundRect">
            <a:avLst>
              <a:gd name="adj" fmla="val 7895"/>
            </a:avLst>
          </a:prstGeom>
          <a:solidFill>
            <a:srgbClr val="16152B"/>
          </a:solidFill>
          <a:ln w="12700">
            <a:solidFill>
              <a:srgbClr val="6C3CE1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0" y="3099816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6C3CE1"/>
          </a:solidFill>
          <a:ln w="12700">
            <a:solidFill>
              <a:srgbClr val="6C3C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0998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Analytics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3502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0FF"/>
                </a:solidFill>
              </a:rPr>
              <a:t>→  Persona performance scoring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83480" y="37764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8FBB"/>
                </a:solidFill>
              </a:rPr>
              <a:t>→  Sentiment analysis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83480" y="40507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8FBB"/>
                </a:solidFill>
              </a:rPr>
              <a:t>→  Confidence trend tracking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83480" y="4325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8FBB"/>
                </a:solidFill>
              </a:rPr>
              <a:t>→  A/B coaching framework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4617720"/>
            <a:ext cx="8046720" cy="347472"/>
          </a:xfrm>
          <a:prstGeom prst="roundRect">
            <a:avLst>
              <a:gd name="adj" fmla="val 26316"/>
            </a:avLst>
          </a:prstGeom>
          <a:solidFill>
            <a:srgbClr val="1E1B38"/>
          </a:solidFill>
          <a:ln w="12700">
            <a:solidFill>
              <a:srgbClr val="9B5FFF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46451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A8FF"/>
                </a:solidFill>
              </a:rPr>
              <a:t>⚡  Fully prototypable within a 48-hour hackathon window using existing APIs — no proprietary models needed.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Impact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896112"/>
            <a:ext cx="8229600" cy="27432"/>
          </a:xfrm>
          <a:prstGeom prst="rect">
            <a:avLst/>
          </a:prstGeom>
          <a:solidFill>
            <a:srgbClr val="6C3CE1">
              <a:alpha val="50000"/>
            </a:srgbClr>
          </a:solidFill>
          <a:ln w="12700">
            <a:solidFill>
              <a:srgbClr val="6C3CE1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51560"/>
            <a:ext cx="2651760" cy="1463040"/>
          </a:xfrm>
          <a:prstGeom prst="roundRect">
            <a:avLst>
              <a:gd name="adj" fmla="val 9375"/>
            </a:avLst>
          </a:prstGeom>
          <a:solidFill>
            <a:srgbClr val="16152B"/>
          </a:solidFill>
          <a:ln w="12700">
            <a:solidFill>
              <a:srgbClr val="9B5FFF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7043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B5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2.3B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85800" y="18470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8FBB"/>
                </a:solidFill>
              </a:rPr>
              <a:t>working adults globally who face difficult conversations weekly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29000" y="1051560"/>
            <a:ext cx="2651760" cy="1463040"/>
          </a:xfrm>
          <a:prstGeom prst="roundRect">
            <a:avLst>
              <a:gd name="adj" fmla="val 9375"/>
            </a:avLst>
          </a:prstGeom>
          <a:solidFill>
            <a:srgbClr val="16152B"/>
          </a:solidFill>
          <a:ln w="12700">
            <a:solidFill>
              <a:srgbClr val="9B5FFF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17043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B5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66160" y="18470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8FBB"/>
                </a:solidFill>
              </a:rPr>
              <a:t>improvement in negotiation outcomes after structured rehearsal (APA, 2023)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051560"/>
            <a:ext cx="2651760" cy="1463040"/>
          </a:xfrm>
          <a:prstGeom prst="roundRect">
            <a:avLst>
              <a:gd name="adj" fmla="val 9375"/>
            </a:avLst>
          </a:prstGeom>
          <a:solidFill>
            <a:srgbClr val="16152B"/>
          </a:solidFill>
          <a:ln w="12700">
            <a:solidFill>
              <a:srgbClr val="9B5FFF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17043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B5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446520" y="18470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8FBB"/>
                </a:solidFill>
              </a:rPr>
              <a:t>cost to users at launch — freemium model with premium persona packs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6974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benefits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2651760" cy="749808"/>
          </a:xfrm>
          <a:prstGeom prst="roundRect">
            <a:avLst>
              <a:gd name="adj" fmla="val 12195"/>
            </a:avLst>
          </a:prstGeom>
          <a:solidFill>
            <a:srgbClr val="1E1B38"/>
          </a:solidFill>
          <a:ln w="12700">
            <a:solidFill>
              <a:srgbClr val="6C3CE1">
                <a:alpha val="2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2278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Professionals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34838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8FBB"/>
                </a:solidFill>
              </a:rPr>
              <a:t>Salary negotiations, performance reviews, firing conversations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29000" y="3154680"/>
            <a:ext cx="2651760" cy="749808"/>
          </a:xfrm>
          <a:prstGeom prst="roundRect">
            <a:avLst>
              <a:gd name="adj" fmla="val 12195"/>
            </a:avLst>
          </a:prstGeom>
          <a:solidFill>
            <a:srgbClr val="1E1B38"/>
          </a:solidFill>
          <a:ln w="12700">
            <a:solidFill>
              <a:srgbClr val="6C3CE1">
                <a:alpha val="2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32278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Students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66160" y="34838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8FBB"/>
                </a:solidFill>
              </a:rPr>
              <a:t>Scholarship interviews, professor disputes, group conflict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3154680"/>
            <a:ext cx="2651760" cy="749808"/>
          </a:xfrm>
          <a:prstGeom prst="roundRect">
            <a:avLst>
              <a:gd name="adj" fmla="val 12195"/>
            </a:avLst>
          </a:prstGeom>
          <a:solidFill>
            <a:srgbClr val="1E1B38"/>
          </a:solidFill>
          <a:ln w="12700">
            <a:solidFill>
              <a:srgbClr val="6C3CE1">
                <a:alpha val="28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2278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Relationships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46520" y="34838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8FBB"/>
                </a:solidFill>
              </a:rPr>
              <a:t>Breakups, family conflict, setting healthy boundaries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023360"/>
            <a:ext cx="2651760" cy="749808"/>
          </a:xfrm>
          <a:prstGeom prst="roundRect">
            <a:avLst>
              <a:gd name="adj" fmla="val 12195"/>
            </a:avLst>
          </a:prstGeom>
          <a:solidFill>
            <a:srgbClr val="1E1B38"/>
          </a:solidFill>
          <a:ln w="12700">
            <a:solidFill>
              <a:srgbClr val="6C3CE1">
                <a:alpha val="28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0965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Sales &amp; BD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" y="435254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8FBB"/>
                </a:solidFill>
              </a:rPr>
              <a:t>Cold pitches, objection handling, closing difficult deals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29000" y="4023360"/>
            <a:ext cx="2651760" cy="749808"/>
          </a:xfrm>
          <a:prstGeom prst="roundRect">
            <a:avLst>
              <a:gd name="adj" fmla="val 12195"/>
            </a:avLst>
          </a:prstGeom>
          <a:solidFill>
            <a:srgbClr val="1E1B38"/>
          </a:solidFill>
          <a:ln w="12700">
            <a:solidFill>
              <a:srgbClr val="6C3CE1">
                <a:alpha val="28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40965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HR &amp; L&amp;D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566160" y="435254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8FBB"/>
                </a:solidFill>
              </a:rPr>
              <a:t>Manager training, conflict resolution at scale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4023360"/>
            <a:ext cx="2651760" cy="749808"/>
          </a:xfrm>
          <a:prstGeom prst="roundRect">
            <a:avLst>
              <a:gd name="adj" fmla="val 12195"/>
            </a:avLst>
          </a:prstGeom>
          <a:solidFill>
            <a:srgbClr val="1E1B38"/>
          </a:solidFill>
          <a:ln w="12700">
            <a:solidFill>
              <a:srgbClr val="6C3CE1">
                <a:alpha val="28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40965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Therapists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46520" y="435254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8FBB"/>
                </a:solidFill>
              </a:rPr>
              <a:t>Assign between-session conversation practice as homework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896112"/>
            <a:ext cx="8229600" cy="27432"/>
          </a:xfrm>
          <a:prstGeom prst="rect">
            <a:avLst/>
          </a:prstGeom>
          <a:solidFill>
            <a:srgbClr val="6C3CE1">
              <a:alpha val="50000"/>
            </a:srgbClr>
          </a:solidFill>
          <a:ln w="12700">
            <a:solidFill>
              <a:srgbClr val="6C3CE1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280160"/>
            <a:ext cx="36576" cy="3291840"/>
          </a:xfrm>
          <a:prstGeom prst="rect">
            <a:avLst/>
          </a:prstGeom>
          <a:solidFill>
            <a:srgbClr val="6C3CE1">
              <a:alpha val="45000"/>
            </a:srgbClr>
          </a:solidFill>
          <a:ln w="12700">
            <a:solidFill>
              <a:srgbClr val="6C3CE1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243584"/>
            <a:ext cx="411480" cy="411480"/>
          </a:xfrm>
          <a:prstGeom prst="ellipse">
            <a:avLst/>
          </a:prstGeom>
          <a:solidFill>
            <a:srgbClr val="4A2FBB"/>
          </a:solidFill>
          <a:ln w="12700">
            <a:solidFill>
              <a:srgbClr val="4A2F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243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98448" y="1170432"/>
            <a:ext cx="7388352" cy="1024128"/>
          </a:xfrm>
          <a:prstGeom prst="roundRect">
            <a:avLst>
              <a:gd name="adj" fmla="val 10714"/>
            </a:avLst>
          </a:prstGeom>
          <a:solidFill>
            <a:srgbClr val="16152B"/>
          </a:solidFill>
          <a:ln w="12700">
            <a:solidFill>
              <a:srgbClr val="4A2FBB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81328" y="12618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A8FF"/>
                </a:solidFill>
              </a:rPr>
              <a:t>Phase 1  ·  Weeks 1–2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81328" y="149961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Research &amp; MVP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81328" y="181051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8FBB"/>
                </a:solidFill>
              </a:rPr>
              <a:t>Core persona simulation engine via Claude API   ·   Text-mode rehearsal loop with 10 starter archetypes   ·   Basic feedback scoring (clarity, empathy, assertiveness)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7512" y="2414016"/>
            <a:ext cx="411480" cy="411480"/>
          </a:xfrm>
          <a:prstGeom prst="ellipse">
            <a:avLst/>
          </a:prstGeom>
          <a:solidFill>
            <a:srgbClr val="6C3CE1"/>
          </a:solidFill>
          <a:ln w="12700">
            <a:solidFill>
              <a:srgbClr val="6C3C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24140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298448" y="2340864"/>
            <a:ext cx="7388352" cy="1024128"/>
          </a:xfrm>
          <a:prstGeom prst="roundRect">
            <a:avLst>
              <a:gd name="adj" fmla="val 10714"/>
            </a:avLst>
          </a:prstGeom>
          <a:solidFill>
            <a:srgbClr val="16152B"/>
          </a:solidFill>
          <a:ln w="12700">
            <a:solidFill>
              <a:srgbClr val="6C3CE1">
                <a:alpha val="3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81328" y="24323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A8FF"/>
                </a:solidFill>
              </a:rPr>
              <a:t>Phase 2  ·  Weeks 3–4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81328" y="2670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Iteration &amp; Expansion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81328" y="2980944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8FBB"/>
                </a:solidFill>
              </a:rPr>
              <a:t>Voice mode via Whisper + WebRTC   ·   Persona Library with 50 community archetypes   ·   User accounts, session history, confidence dashboard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7512" y="3584448"/>
            <a:ext cx="411480" cy="411480"/>
          </a:xfrm>
          <a:prstGeom prst="ellipse">
            <a:avLst/>
          </a:prstGeom>
          <a:solidFill>
            <a:srgbClr val="9B5FFF"/>
          </a:solidFill>
          <a:ln w="12700">
            <a:solidFill>
              <a:srgbClr val="9B5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3584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298448" y="3511296"/>
            <a:ext cx="7388352" cy="1024128"/>
          </a:xfrm>
          <a:prstGeom prst="roundRect">
            <a:avLst>
              <a:gd name="adj" fmla="val 10714"/>
            </a:avLst>
          </a:prstGeom>
          <a:solidFill>
            <a:srgbClr val="16152B"/>
          </a:solidFill>
          <a:ln w="12700">
            <a:solidFill>
              <a:srgbClr val="9B5FFF">
                <a:alpha val="3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81328" y="36027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A8FF"/>
                </a:solidFill>
              </a:rPr>
              <a:t>Phase 3  ·  Weeks 5–6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81328" y="38404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Polish &amp; Demo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81328" y="4151376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8FBB"/>
                </a:solidFill>
              </a:rPr>
              <a:t>Mobile app (React Native)   ·   B2B pilot with 1 HR team &amp; 1 coaching firm   ·   Pitch demo: live rehearsal of a VC conversation on stage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645152"/>
            <a:ext cx="8046720" cy="347472"/>
          </a:xfrm>
          <a:prstGeom prst="roundRect">
            <a:avLst>
              <a:gd name="adj" fmla="val 26316"/>
            </a:avLst>
          </a:prstGeom>
          <a:solidFill>
            <a:srgbClr val="1E1B38"/>
          </a:solidFill>
          <a:ln w="12700">
            <a:solidFill>
              <a:srgbClr val="9B5FFF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6817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4A8FF"/>
                </a:solidFill>
              </a:rPr>
              <a:t>The real moat: a curated, community-built Persona Library that no prompt can replicate.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828800"/>
            <a:ext cx="6400800" cy="6400800"/>
          </a:xfrm>
          <a:prstGeom prst="ellipse">
            <a:avLst/>
          </a:prstGeom>
          <a:solidFill>
            <a:srgbClr val="6C3CE1">
              <a:alpha val="15000"/>
            </a:srgbClr>
          </a:solidFill>
          <a:ln w="12700">
            <a:solidFill>
              <a:srgbClr val="6C3CE1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286000"/>
            <a:ext cx="4572000" cy="4572000"/>
          </a:xfrm>
          <a:prstGeom prst="ellipse">
            <a:avLst/>
          </a:prstGeom>
          <a:solidFill>
            <a:srgbClr val="9B5FFF">
              <a:alpha val="10000"/>
            </a:srgbClr>
          </a:solidFill>
          <a:ln w="12700">
            <a:solidFill>
              <a:srgbClr val="9B5FFF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great outcome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157276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starts with a conversation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231136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C4A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someone was afraid to have.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3200400" y="3063240"/>
            <a:ext cx="2743200" cy="36576"/>
          </a:xfrm>
          <a:prstGeom prst="rect">
            <a:avLst/>
          </a:prstGeom>
          <a:solidFill>
            <a:srgbClr val="6C3CE1"/>
          </a:solidFill>
          <a:ln w="12700">
            <a:solidFill>
              <a:srgbClr val="6C3C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918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B8FBB"/>
                </a:solidFill>
              </a:rPr>
              <a:t>EchoPersona gives everyone the courage to go first.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926080" y="3886200"/>
            <a:ext cx="3291840" cy="640080"/>
          </a:xfrm>
          <a:prstGeom prst="roundRect">
            <a:avLst>
              <a:gd name="adj" fmla="val 17143"/>
            </a:avLst>
          </a:prstGeom>
          <a:solidFill>
            <a:srgbClr val="6C3CE1"/>
          </a:solidFill>
          <a:ln w="12700">
            <a:solidFill>
              <a:srgbClr val="6C3C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38862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Let's build it.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7365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8FBB"/>
                </a:solidFill>
              </a:rPr>
              <a:t>EchoPersona  ·  Hackathon Round 1  · 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EchoPersona — Hackathon Pitch</dc:title>
  <dc:subject>PptxGenJS Presentation</dc:subject>
  <dc:creator>PptxGenJS</dc:creator>
  <cp:lastModifiedBy>PptxGenJS</cp:lastModifiedBy>
  <cp:revision>1</cp:revision>
  <dcterms:created xsi:type="dcterms:W3CDTF">2026-06-17T10:41:42Z</dcterms:created>
  <dcterms:modified xsi:type="dcterms:W3CDTF">2026-06-17T10:41:42Z</dcterms:modified>
</cp:coreProperties>
</file>